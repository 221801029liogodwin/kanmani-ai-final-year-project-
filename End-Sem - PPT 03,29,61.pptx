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256" r:id="rId3"/>
    <p:sldId id="257" r:id="rId4"/>
    <p:sldId id="390" r:id="rId5"/>
    <p:sldId id="368" r:id="rId6"/>
    <p:sldId id="369" r:id="rId7"/>
    <p:sldId id="370" r:id="rId8"/>
    <p:sldId id="372" r:id="rId9"/>
    <p:sldId id="374" r:id="rId10"/>
    <p:sldId id="382" r:id="rId11"/>
    <p:sldId id="383" r:id="rId12"/>
    <p:sldId id="385" r:id="rId13"/>
    <p:sldId id="387" r:id="rId14"/>
    <p:sldId id="389" r:id="rId15"/>
    <p:sldId id="3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endParaRPr lang="en-US"/>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endParaRPr lang="en-US"/>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endParaRPr lang="en-US"/>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endParaRPr lang="en-US"/>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endParaRPr lang="en-US"/>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endParaRPr lang="en-US"/>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endParaRPr lang="en-US" altLang="en-US"/>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endParaRPr lang="en-US"/>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endParaRPr lang="en-US"/>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defRPr>
      </a:lvl2pPr>
      <a:lvl3pPr algn="l" rtl="0" eaLnBrk="0" fontAlgn="base" hangingPunct="0">
        <a:spcBef>
          <a:spcPct val="0"/>
        </a:spcBef>
        <a:spcAft>
          <a:spcPct val="0"/>
        </a:spcAft>
        <a:defRPr sz="3800">
          <a:solidFill>
            <a:schemeClr val="tx2"/>
          </a:solidFill>
          <a:latin typeface="Verdana" panose="020B0804030504040204" pitchFamily="34" charset="0"/>
        </a:defRPr>
      </a:lvl3pPr>
      <a:lvl4pPr algn="l" rtl="0" eaLnBrk="0" fontAlgn="base" hangingPunct="0">
        <a:spcBef>
          <a:spcPct val="0"/>
        </a:spcBef>
        <a:spcAft>
          <a:spcPct val="0"/>
        </a:spcAft>
        <a:defRPr sz="3800">
          <a:solidFill>
            <a:schemeClr val="tx2"/>
          </a:solidFill>
          <a:latin typeface="Verdana" panose="020B0804030504040204" pitchFamily="34" charset="0"/>
        </a:defRPr>
      </a:lvl4pPr>
      <a:lvl5pPr algn="l" rtl="0" eaLnBrk="0" fontAlgn="base" hangingPunct="0">
        <a:spcBef>
          <a:spcPct val="0"/>
        </a:spcBef>
        <a:spcAft>
          <a:spcPct val="0"/>
        </a:spcAft>
        <a:defRPr sz="3800">
          <a:solidFill>
            <a:schemeClr val="tx2"/>
          </a:solidFill>
          <a:latin typeface="Verdana" panose="020B0804030504040204" pitchFamily="34" charset="0"/>
        </a:defRPr>
      </a:lvl5pPr>
      <a:lvl6pPr marL="457200" algn="l" rtl="0" fontAlgn="base">
        <a:spcBef>
          <a:spcPct val="0"/>
        </a:spcBef>
        <a:spcAft>
          <a:spcPct val="0"/>
        </a:spcAft>
        <a:defRPr sz="3800">
          <a:solidFill>
            <a:schemeClr val="tx2"/>
          </a:solidFill>
          <a:latin typeface="Verdana" panose="020B0804030504040204" pitchFamily="34" charset="0"/>
        </a:defRPr>
      </a:lvl6pPr>
      <a:lvl7pPr marL="914400" algn="l" rtl="0" fontAlgn="base">
        <a:spcBef>
          <a:spcPct val="0"/>
        </a:spcBef>
        <a:spcAft>
          <a:spcPct val="0"/>
        </a:spcAft>
        <a:defRPr sz="3800">
          <a:solidFill>
            <a:schemeClr val="tx2"/>
          </a:solidFill>
          <a:latin typeface="Verdana" panose="020B0804030504040204" pitchFamily="34" charset="0"/>
        </a:defRPr>
      </a:lvl7pPr>
      <a:lvl8pPr marL="1371600" algn="l" rtl="0" fontAlgn="base">
        <a:spcBef>
          <a:spcPct val="0"/>
        </a:spcBef>
        <a:spcAft>
          <a:spcPct val="0"/>
        </a:spcAft>
        <a:defRPr sz="3800">
          <a:solidFill>
            <a:schemeClr val="tx2"/>
          </a:solidFill>
          <a:latin typeface="Verdana" panose="020B0804030504040204" pitchFamily="34" charset="0"/>
        </a:defRPr>
      </a:lvl8pPr>
      <a:lvl9pPr marL="1828800" algn="l" rtl="0" fontAlgn="base">
        <a:spcBef>
          <a:spcPct val="0"/>
        </a:spcBef>
        <a:spcAft>
          <a:spcPct val="0"/>
        </a:spcAft>
        <a:defRPr sz="3800">
          <a:solidFill>
            <a:schemeClr val="tx2"/>
          </a:solidFill>
          <a:latin typeface="Verdana" panose="020B08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4.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6.xml"/><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7.xml"/><Relationship Id="rId2" Type="http://schemas.openxmlformats.org/officeDocument/2006/relationships/image" Target="../media/image4.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9" name="Title 1"/>
          <p:cNvSpPr txBox="1"/>
          <p:nvPr/>
        </p:nvSpPr>
        <p:spPr>
          <a:xfrm>
            <a:off x="789940" y="2818130"/>
            <a:ext cx="10515600" cy="1714500"/>
          </a:xfrm>
          <a:prstGeom prst="rect">
            <a:avLst/>
          </a:prstGeom>
        </p:spPr>
        <p:txBody>
          <a:bodyPr vert="horz" lIns="91440" tIns="45720" rIns="91440" bIns="45720" rtlCol="0" anchor="ctr">
            <a:normAutofit fontScale="8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b="1" dirty="0">
                <a:solidFill>
                  <a:srgbClr val="7030A0"/>
                </a:solidFill>
                <a:latin typeface="Verdana" panose="020B0804030504040204" pitchFamily="34" charset="0"/>
                <a:ea typeface="+mn-ea"/>
                <a:cs typeface="+mn-cs"/>
              </a:rPr>
              <a:t>Kanmani AI – A Wearable Stereo Vision- Based Assistive Device for Indoor Navigation of</a:t>
            </a:r>
            <a:endParaRPr lang="en-US" altLang="en-US" sz="4000" b="1" dirty="0">
              <a:solidFill>
                <a:srgbClr val="7030A0"/>
              </a:solidFill>
              <a:latin typeface="Verdana" panose="020B0804030504040204" pitchFamily="34" charset="0"/>
              <a:ea typeface="+mn-ea"/>
              <a:cs typeface="+mn-cs"/>
            </a:endParaRPr>
          </a:p>
          <a:p>
            <a:r>
              <a:rPr lang="en-US" altLang="en-US" sz="4000" b="1" dirty="0">
                <a:solidFill>
                  <a:srgbClr val="7030A0"/>
                </a:solidFill>
                <a:latin typeface="Verdana" panose="020B0804030504040204" pitchFamily="34" charset="0"/>
                <a:ea typeface="+mn-ea"/>
                <a:cs typeface="+mn-cs"/>
              </a:rPr>
              <a:t>Visually Impaired Elderly Individuals</a:t>
            </a:r>
            <a:endParaRPr lang="en-US" altLang="en-US" sz="4000" b="1" dirty="0">
              <a:solidFill>
                <a:srgbClr val="7030A0"/>
              </a:solidFill>
              <a:latin typeface="Verdana" panose="020B0804030504040204" pitchFamily="34" charset="0"/>
              <a:ea typeface="+mn-ea"/>
              <a:cs typeface="+mn-cs"/>
            </a:endParaRPr>
          </a:p>
          <a:p>
            <a:endParaRPr lang="en-US" altLang="en-US" sz="4000" b="1" dirty="0">
              <a:solidFill>
                <a:srgbClr val="7030A0"/>
              </a:solidFill>
              <a:latin typeface="Verdana" panose="020B0804030504040204" pitchFamily="34" charset="0"/>
              <a:ea typeface="+mn-ea"/>
              <a:cs typeface="+mn-cs"/>
            </a:endParaRPr>
          </a:p>
        </p:txBody>
      </p:sp>
      <p:sp>
        <p:nvSpPr>
          <p:cNvPr id="10" name="TextBox 1"/>
          <p:cNvSpPr txBox="1">
            <a:spLocks noChangeArrowheads="1"/>
          </p:cNvSpPr>
          <p:nvPr/>
        </p:nvSpPr>
        <p:spPr bwMode="auto">
          <a:xfrm>
            <a:off x="708660" y="5042535"/>
            <a:ext cx="615505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9pPr>
          </a:lstStyle>
          <a:p>
            <a:pPr>
              <a:spcBef>
                <a:spcPct val="0"/>
              </a:spcBef>
              <a:buClrTx/>
              <a:buFontTx/>
              <a:buNone/>
            </a:pPr>
            <a:r>
              <a:rPr lang="en-US" altLang="en-US" sz="2400" b="1" dirty="0">
                <a:solidFill>
                  <a:srgbClr val="FF0000"/>
                </a:solidFill>
              </a:rPr>
              <a:t>Dr. J. M. GNANASEKAR M.E., Ph.D.,</a:t>
            </a:r>
            <a:endParaRPr lang="en-US" altLang="en-US" sz="2400" b="1" dirty="0">
              <a:solidFill>
                <a:srgbClr val="FF0000"/>
              </a:solidFill>
            </a:endParaRPr>
          </a:p>
          <a:p>
            <a:pPr>
              <a:spcBef>
                <a:spcPct val="0"/>
              </a:spcBef>
              <a:buClrTx/>
              <a:buFontTx/>
              <a:buNone/>
            </a:pPr>
            <a:r>
              <a:rPr lang="en-US" altLang="en-US" sz="2400" b="1" dirty="0">
                <a:solidFill>
                  <a:srgbClr val="FF0000"/>
                </a:solidFill>
              </a:rPr>
              <a:t>Professor and Head,</a:t>
            </a:r>
            <a:endParaRPr lang="en-US" altLang="en-US" sz="2400" b="1" dirty="0">
              <a:solidFill>
                <a:srgbClr val="FF0000"/>
              </a:solidFill>
            </a:endParaRPr>
          </a:p>
          <a:p>
            <a:pPr>
              <a:spcBef>
                <a:spcPct val="0"/>
              </a:spcBef>
              <a:buClrTx/>
              <a:buFontTx/>
              <a:buNone/>
            </a:pPr>
            <a:r>
              <a:rPr lang="en-US" altLang="en-US" sz="2400" b="1" dirty="0">
                <a:solidFill>
                  <a:srgbClr val="FF0000"/>
                </a:solidFill>
              </a:rPr>
              <a:t>Department of Artificial Intelligence and Data Science</a:t>
            </a:r>
            <a:endParaRPr lang="en-US" altLang="en-US" sz="2400" b="1" dirty="0">
              <a:solidFill>
                <a:srgbClr val="FF0000"/>
              </a:solidFill>
            </a:endParaRPr>
          </a:p>
          <a:p>
            <a:pPr>
              <a:spcBef>
                <a:spcPct val="0"/>
              </a:spcBef>
              <a:buClrTx/>
              <a:buFontTx/>
              <a:buNone/>
            </a:pPr>
            <a:endParaRPr lang="en-US" altLang="en-US" sz="2400" b="1" dirty="0">
              <a:solidFill>
                <a:srgbClr val="FF0000"/>
              </a:solidFill>
            </a:endParaRPr>
          </a:p>
        </p:txBody>
      </p:sp>
      <p:sp>
        <p:nvSpPr>
          <p:cNvPr id="11" name="TextBox 1"/>
          <p:cNvSpPr txBox="1">
            <a:spLocks noChangeArrowheads="1"/>
          </p:cNvSpPr>
          <p:nvPr/>
        </p:nvSpPr>
        <p:spPr bwMode="auto">
          <a:xfrm>
            <a:off x="6489700" y="5042535"/>
            <a:ext cx="570293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9pPr>
          </a:lstStyle>
          <a:p>
            <a:pPr>
              <a:spcBef>
                <a:spcPct val="0"/>
              </a:spcBef>
              <a:buClrTx/>
              <a:buFontTx/>
              <a:buNone/>
            </a:pPr>
            <a:r>
              <a:rPr lang="en-US" altLang="en-US" sz="2400" b="1" dirty="0">
                <a:solidFill>
                  <a:srgbClr val="FF0000"/>
                </a:solidFill>
              </a:rPr>
              <a:t>ARAVINTH S(2116221801003)</a:t>
            </a:r>
            <a:br>
              <a:rPr lang="en-US" altLang="en-US" sz="2400" b="1" dirty="0">
                <a:solidFill>
                  <a:srgbClr val="FF0000"/>
                </a:solidFill>
              </a:rPr>
            </a:br>
            <a:r>
              <a:rPr lang="en-US" altLang="en-US" sz="2400" b="1" dirty="0">
                <a:solidFill>
                  <a:srgbClr val="FF0000"/>
                </a:solidFill>
              </a:rPr>
              <a:t>LIO GODWIN BR(2116221801029)</a:t>
            </a:r>
            <a:br>
              <a:rPr lang="en-US" altLang="en-US" sz="2400" b="1" dirty="0">
                <a:solidFill>
                  <a:srgbClr val="FF0000"/>
                </a:solidFill>
              </a:rPr>
            </a:br>
            <a:r>
              <a:rPr lang="en-US" altLang="en-US" sz="2400" b="1" dirty="0">
                <a:solidFill>
                  <a:srgbClr val="FF0000"/>
                </a:solidFill>
              </a:rPr>
              <a:t>VENKATESHAN T(2116221801061)</a:t>
            </a:r>
            <a:endParaRPr lang="en-US" altLang="en-US" sz="2400" b="1" dirty="0">
              <a:solidFill>
                <a:srgbClr val="FF0000"/>
              </a:solidFill>
            </a:endParaRP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804030504040204" pitchFamily="34" charset="0"/>
                <a:ea typeface="+mn-ea"/>
                <a:cs typeface="+mn-cs"/>
              </a:rPr>
              <a:t>Department of</a:t>
            </a:r>
            <a:r>
              <a:rPr lang="en-US" altLang="en-IN" sz="2800" b="1" dirty="0">
                <a:solidFill>
                  <a:srgbClr val="002060"/>
                </a:solidFill>
                <a:latin typeface="Verdana" panose="020B0804030504040204" pitchFamily="34" charset="0"/>
                <a:ea typeface="+mn-ea"/>
                <a:cs typeface="+mn-cs"/>
              </a:rPr>
              <a:t> Artificial Intelligence and Data Science</a:t>
            </a:r>
            <a:r>
              <a:rPr lang="en-IN" sz="2800" b="1" dirty="0">
                <a:solidFill>
                  <a:srgbClr val="002060"/>
                </a:solidFill>
                <a:latin typeface="Verdana" panose="020B0804030504040204" pitchFamily="34" charset="0"/>
                <a:ea typeface="+mn-ea"/>
                <a:cs typeface="+mn-cs"/>
              </a:rPr>
              <a:t> </a:t>
            </a:r>
            <a:endParaRPr lang="en-IN" sz="2800" b="1" dirty="0">
              <a:solidFill>
                <a:srgbClr val="002060"/>
              </a:solidFill>
              <a:latin typeface="Verdana" panose="020B0804030504040204" pitchFamily="34" charset="0"/>
              <a:ea typeface="+mn-ea"/>
              <a:cs typeface="+mn-cs"/>
            </a:endParaRPr>
          </a:p>
        </p:txBody>
      </p:sp>
      <p:pic>
        <p:nvPicPr>
          <p:cNvPr id="8" name="Picture 1"/>
          <p:cNvPicPr>
            <a:picLocks noChangeAspect="1"/>
          </p:cNvPicPr>
          <p:nvPr/>
        </p:nvPicPr>
        <p:blipFill>
          <a:blip r:embed="rId2"/>
          <a:stretch>
            <a:fillRect/>
          </a:stretch>
        </p:blipFill>
        <p:spPr>
          <a:xfrm>
            <a:off x="151765" y="149225"/>
            <a:ext cx="2769235" cy="10541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latin typeface="Verdana" panose="020B0804030504040204" pitchFamily="34" charset="0"/>
                <a:cs typeface="Verdana" panose="020B0804030504040204" pitchFamily="34" charset="0"/>
              </a:rPr>
              <a:t>PROBLEM STATEMENT</a:t>
            </a:r>
            <a:endParaRPr lang="en-US" altLang="en-IN" sz="3200" b="1" dirty="0">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a:xfrm>
            <a:off x="766446" y="1295400"/>
            <a:ext cx="10668000" cy="4267200"/>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Elderly individuals with visual impairments face significant challenges when navigating indoor environments, where obstacles, stairs, doorways, and unfamiliar layouts can pose serious safety risks. Traditional mobility aids such as white canes and guide dogs provide only limited situational awareness and cannot detect or interpret the environment in real time. Existing smart assistive technologies often depend on cloud connectivity, are expensive, or lack the capability to operate reliably indoors. Therefore, there is a need for an affordable, wearable, and offline AI-based system that can deliver real-time obstacle detection, environmental understanding, and intuitive guidance to support safe and independent indoor navigation for visually impaired elderly users.</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endParaRPr lang="en-IN" sz="2400" dirty="0"/>
          </a:p>
        </p:txBody>
      </p:sp>
      <p:sp>
        <p:nvSpPr>
          <p:cNvPr id="4" name="Date Placeholder 3"/>
          <p:cNvSpPr>
            <a:spLocks noGrp="1"/>
          </p:cNvSpPr>
          <p:nvPr>
            <p:ph type="dt" sz="half" idx="10"/>
          </p:nvPr>
        </p:nvSpPr>
        <p:spPr/>
        <p:txBody>
          <a:bodyPr/>
          <a:lstStyle/>
          <a:p>
            <a:r>
              <a:rPr lang="en-US" altLang="en-IN"/>
              <a:t>End Sem</a:t>
            </a:r>
            <a:endParaRPr lang="en-US" altLang="en-IN"/>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8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b="1">
                <a:solidFill>
                  <a:srgbClr val="FF0000"/>
                </a:solidFill>
                <a:latin typeface="Verdana" panose="020B0804030504040204" pitchFamily="34" charset="0"/>
                <a:cs typeface="Verdana" panose="020B0804030504040204" pitchFamily="34" charset="0"/>
              </a:rPr>
              <a:t>MOTIVATION</a:t>
            </a:r>
            <a:endParaRPr lang="en-US" sz="3200"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a:xfrm>
            <a:off x="755650" y="1752600"/>
            <a:ext cx="11436350" cy="4267200"/>
          </a:xfrm>
        </p:spPr>
        <p:txBody>
          <a:bodyPr/>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lang="en-US" altLang="en-US" sz="2400" noProof="0" dirty="0">
                <a:ln>
                  <a:noFill/>
                </a:ln>
                <a:solidFill>
                  <a:srgbClr val="000000"/>
                </a:solidFill>
                <a:effectLst/>
                <a:uLnTx/>
                <a:uFillTx/>
                <a:latin typeface="Verdana" panose="020B0804030504040204"/>
                <a:sym typeface="+mn-ea"/>
              </a:rPr>
              <a:t>The motivation behind Kanmani AI arises from the growing need to enhance the independence, safety, and quality of life of visually impaired elderly individuals. Many rely heavily on caregivers or limited traditional tools, leading to reduced mobility, fear of injury, and loss of confidence in daily activities. With advancements in computer vision, AI, and wearable technology, there is a clear opportunity to develop an intelligent assistive system that goes beyond conventional aids and provides a richer understanding of the user’s surroundings. Kanmani AI aims to harness stereo vision, offline deep learning models, and non-intrusive audio feedback to create an affordable, privacy-preserving, and user-friendly solution that empowers elderly individuals to navigate their indoor environments with greater autonomy and confidence.</a:t>
            </a:r>
            <a:br>
              <a:rPr lang="en-IN" altLang="en-US" sz="2400" noProof="0" dirty="0">
                <a:ln>
                  <a:noFill/>
                </a:ln>
                <a:solidFill>
                  <a:srgbClr val="000000"/>
                </a:solidFill>
                <a:effectLst/>
                <a:uLnTx/>
                <a:uFillTx/>
                <a:latin typeface="Verdana" panose="020B0804030504040204"/>
                <a:sym typeface="+mn-ea"/>
              </a:rPr>
            </a:br>
            <a:endParaRPr kumimoji="0" lang="en-IN"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indent="0">
              <a:buNone/>
            </a:pPr>
            <a:endParaRPr lang="en-IN" sz="2400" dirty="0"/>
          </a:p>
          <a:p>
            <a:endParaRPr lang="en-US" sz="2400"/>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EXISTING SYSTEM</a:t>
            </a:r>
            <a:endParaRPr lang="en-US" altLang="en-IN" sz="3200" b="1" dirty="0">
              <a:solidFill>
                <a:srgbClr val="FF0000"/>
              </a:solidFill>
            </a:endParaRP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The existing systems for assisting visually impaired individuals primarily include white canes, guide dogs, and GPS-based navigation tools.These tools provide basic mobility support but have several limitations in indoor environments.White canes can only detect nearby physical obstacles and do not identify object type or distance.Guide dogs require high maintenance and cannot provide detailed contextual information.GPS-based systems work effectively outdoors but fail indoors due to weak signals and </a:t>
            </a:r>
            <a:r>
              <a:rPr lang="en-US" altLang="en-US" sz="2400" noProof="0" dirty="0">
                <a:ln>
                  <a:noFill/>
                </a:ln>
                <a:solidFill>
                  <a:srgbClr val="000000"/>
                </a:solidFill>
                <a:effectLst/>
                <a:uLnTx/>
                <a:uFillTx/>
                <a:latin typeface="Verdana" panose="020B0804030504040204"/>
                <a:sym typeface="+mn-ea"/>
              </a:rPr>
              <a:t>occlusions.</a:t>
            </a: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 </a:t>
            </a:r>
            <a:r>
              <a:rPr lang="en-US" altLang="en-US" sz="2400" noProof="0" dirty="0">
                <a:ln>
                  <a:noFill/>
                </a:ln>
                <a:solidFill>
                  <a:srgbClr val="000000"/>
                </a:solidFill>
                <a:effectLst/>
                <a:uLnTx/>
                <a:uFillTx/>
                <a:latin typeface="Verdana" panose="020B0804030504040204"/>
                <a:sym typeface="+mn-ea"/>
              </a:rPr>
              <a:t>Some robotic or sensor-based aids exist, but they are often expensive and bulky. Most current solutions lack real-time object recognition and audio-based situational feedback.Additionally, they depend heavily on user experience and offer limited automation.</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br>
              <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indent="0">
              <a:buNone/>
            </a:pPr>
            <a:endParaRPr lang="en-IN" dirty="0"/>
          </a:p>
        </p:txBody>
      </p:sp>
      <p:sp>
        <p:nvSpPr>
          <p:cNvPr id="4" name="Date Placeholder 3"/>
          <p:cNvSpPr>
            <a:spLocks noGrp="1"/>
          </p:cNvSpPr>
          <p:nvPr>
            <p:ph type="dt" sz="half" idx="10"/>
          </p:nvPr>
        </p:nvSpPr>
        <p:spPr>
          <a:xfrm>
            <a:off x="812800" y="6245225"/>
            <a:ext cx="2641600" cy="476250"/>
          </a:xfrm>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8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OBJECTIVES</a:t>
            </a:r>
            <a:endParaRPr lang="en-US" altLang="en-IN" sz="3200" b="1" dirty="0">
              <a:solidFill>
                <a:srgbClr val="FF0000"/>
              </a:solidFill>
            </a:endParaRPr>
          </a:p>
        </p:txBody>
      </p:sp>
      <p:sp>
        <p:nvSpPr>
          <p:cNvPr id="3" name="Content Placeholder 2"/>
          <p:cNvSpPr>
            <a:spLocks noGrp="1"/>
          </p:cNvSpPr>
          <p:nvPr>
            <p:ph idx="1"/>
          </p:nvPr>
        </p:nvSpPr>
        <p:spPr>
          <a:xfrm>
            <a:off x="766445" y="1749425"/>
            <a:ext cx="11079480" cy="4267200"/>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Develop a stereo vision–based wearable system capable of real-time offline detection and recognition of indoor obstacles, stairs, doors, and labeled objects using lightweight AI models running on a smartphone.</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Enhance contextual awareness by integrating OCR and object recognition to identify room names, labels, and familiar individuals, ensuring accurate and reliable environmental understanding.</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Provide intuitive and safe user interaction through a low-cost, modular wearable design with bone conduction audio guidance, supporting future extensions such as fall detection and health monitoring.</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8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1200" y="0"/>
            <a:ext cx="10668000" cy="1597025"/>
          </a:xfrm>
        </p:spPr>
        <p:txBody>
          <a:bodyPr/>
          <a:lstStyle/>
          <a:p>
            <a:r>
              <a:rPr lang="en-US" altLang="en-IN" sz="3200" b="1" dirty="0">
                <a:solidFill>
                  <a:srgbClr val="FF0000"/>
                </a:solidFill>
              </a:rPr>
              <a:t>ABSTRACT</a:t>
            </a:r>
            <a:endParaRPr lang="en-US" altLang="en-IN" sz="3200" b="1" dirty="0">
              <a:solidFill>
                <a:srgbClr val="FF0000"/>
              </a:solidFill>
            </a:endParaRPr>
          </a:p>
        </p:txBody>
      </p:sp>
      <p:sp>
        <p:nvSpPr>
          <p:cNvPr id="3" name="Content Placeholder 2"/>
          <p:cNvSpPr>
            <a:spLocks noGrp="1"/>
          </p:cNvSpPr>
          <p:nvPr>
            <p:ph idx="1"/>
          </p:nvPr>
        </p:nvSpPr>
        <p:spPr>
          <a:xfrm>
            <a:off x="711200" y="1597025"/>
            <a:ext cx="11851640" cy="4267200"/>
          </a:xfrm>
        </p:spPr>
        <p:txBody>
          <a:bodyPr/>
          <a:lstStyle/>
          <a:p>
            <a:pPr marL="0" indent="0">
              <a:buNone/>
            </a:pPr>
            <a:r>
              <a:rPr lang="en-US" altLang="en-US" sz="2300" dirty="0"/>
              <a:t>Kanmani AI is a wearable assistive system designed to support safe and independent indoor navigation for visually impaired elderly individuals.Traditional aids like canes and guide dogs offer limited awareness, whereas Kanmani AI provides real-time environmental understanding.It uses stereo cameras on a lightweight wearable frame connected to a smartphone for offline AI processing.The system detects obstacles, identifies stairs and doors, recognizes people and rooms, and reads text labels through OCR.Voice guidance is delivered via bone conduction earphones for a hands-free, non-intrusive experience.Testing in simulated indoor environments showed accurate detection and clear navigation instructions.Users were able to navigate safely with minimal training.With its low-cost, modular design and future expandability, Kanmani AI enhances safety, confidence, and independence.</a:t>
            </a:r>
            <a:endParaRPr lang="en-US" altLang="en-US" sz="2300"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8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rPr>
              <a:t>ARCHITECTURE</a:t>
            </a:r>
            <a:endParaRPr lang="en-US" sz="3200" b="1" dirty="0">
              <a:solidFill>
                <a:srgbClr val="FF0000"/>
              </a:solidFill>
            </a:endParaRP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br>
              <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8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pic>
        <p:nvPicPr>
          <p:cNvPr id="15" name="Image 15"/>
          <p:cNvPicPr/>
          <p:nvPr/>
        </p:nvPicPr>
        <p:blipFill>
          <a:blip r:embed="rId2" cstate="print"/>
          <a:stretch>
            <a:fillRect/>
          </a:stretch>
        </p:blipFill>
        <p:spPr>
          <a:xfrm>
            <a:off x="1473200" y="1691640"/>
            <a:ext cx="8983980" cy="441769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b="1" dirty="0">
                <a:solidFill>
                  <a:srgbClr val="FF0000"/>
                </a:solidFill>
              </a:rPr>
              <a:t>STEREO VISION CAMERA </a:t>
            </a:r>
            <a:r>
              <a:rPr lang="en-US" altLang="en-IN" sz="3200" b="1" dirty="0">
                <a:solidFill>
                  <a:srgbClr val="FF0000"/>
                </a:solidFill>
              </a:rPr>
              <a:t>MODULE</a:t>
            </a:r>
            <a:endParaRPr lang="en-US" altLang="en-IN" sz="3200" b="1" dirty="0">
              <a:solidFill>
                <a:srgbClr val="FF0000"/>
              </a:solidFill>
            </a:endParaRPr>
          </a:p>
        </p:txBody>
      </p:sp>
      <p:sp>
        <p:nvSpPr>
          <p:cNvPr id="3" name="Content Placeholder 2"/>
          <p:cNvSpPr>
            <a:spLocks noGrp="1"/>
          </p:cNvSpPr>
          <p:nvPr>
            <p:ph idx="1"/>
          </p:nvPr>
        </p:nvSpPr>
        <p:spPr>
          <a:xfrm>
            <a:off x="494030" y="1692275"/>
            <a:ext cx="7981950" cy="4415790"/>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1" i="0" u="none" strike="noStrike" kern="0" cap="none" spc="0" normalizeH="0" baseline="0" noProof="0" dirty="0">
                <a:ln>
                  <a:noFill/>
                </a:ln>
                <a:solidFill>
                  <a:srgbClr val="000000"/>
                </a:solidFill>
                <a:effectLst/>
                <a:uLnTx/>
                <a:uFillTx/>
                <a:latin typeface="Verdana" panose="020B0804030504040204" pitchFamily="34" charset="0"/>
                <a:ea typeface="+mn-ea"/>
                <a:cs typeface="Verdana" panose="020B0804030504040204" pitchFamily="34" charset="0"/>
              </a:rPr>
              <a:t>Model:</a:t>
            </a: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 OAK-D Lite / ZED Mini</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1" i="0" u="none" strike="noStrike" kern="0" cap="none" spc="0" normalizeH="0" baseline="0" noProof="0" dirty="0">
                <a:ln>
                  <a:noFill/>
                </a:ln>
                <a:solidFill>
                  <a:srgbClr val="000000"/>
                </a:solidFill>
                <a:effectLst/>
                <a:uLnTx/>
                <a:uFillTx/>
                <a:latin typeface="Verdana" panose="020B0804030504040204" pitchFamily="34" charset="0"/>
                <a:ea typeface="+mn-ea"/>
                <a:cs typeface="Verdana" panose="020B0804030504040204" pitchFamily="34" charset="0"/>
              </a:rPr>
              <a:t>Purpose:</a:t>
            </a: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 Captures high-resolution stereo images and calculates depth information for obstacle detection, stairs, doors, and indoor objects.</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1" i="0" u="none" strike="noStrike" kern="0" cap="none" spc="0" normalizeH="0" baseline="0" noProof="0" dirty="0">
                <a:ln>
                  <a:noFill/>
                </a:ln>
                <a:solidFill>
                  <a:srgbClr val="000000"/>
                </a:solidFill>
                <a:effectLst/>
                <a:uLnTx/>
                <a:uFillTx/>
                <a:latin typeface="Verdana" panose="020B0804030504040204" pitchFamily="34" charset="0"/>
                <a:ea typeface="+mn-ea"/>
                <a:cs typeface="Verdana" panose="020B0804030504040204" pitchFamily="34" charset="0"/>
              </a:rPr>
              <a:t>Functionality:</a:t>
            </a: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 Computes disparity between left and right images to estimate distances accurately and generate real-time depth maps.</a:t>
            </a:r>
            <a:endPar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400" b="1" i="0" u="none" strike="noStrike" kern="0" cap="none" spc="0" normalizeH="0" baseline="0" noProof="0" dirty="0">
                <a:ln>
                  <a:noFill/>
                </a:ln>
                <a:solidFill>
                  <a:srgbClr val="000000"/>
                </a:solidFill>
                <a:effectLst/>
                <a:uLnTx/>
                <a:uFillTx/>
                <a:latin typeface="Verdana" panose="020B0804030504040204" pitchFamily="34" charset="0"/>
                <a:ea typeface="+mn-ea"/>
                <a:cs typeface="Verdana" panose="020B0804030504040204" pitchFamily="34" charset="0"/>
              </a:rPr>
              <a:t>Reason for Selection:</a:t>
            </a:r>
            <a:r>
              <a:rPr kumimoji="0" lang="en-US" altLang="en-US" sz="2400" b="0" i="0" u="none" strike="noStrike" kern="0" cap="none" spc="0" normalizeH="0" baseline="0" noProof="0" dirty="0">
                <a:ln>
                  <a:noFill/>
                </a:ln>
                <a:solidFill>
                  <a:srgbClr val="000000"/>
                </a:solidFill>
                <a:effectLst/>
                <a:uLnTx/>
                <a:uFillTx/>
                <a:latin typeface="Verdana" panose="020B0804030504040204"/>
                <a:ea typeface="+mn-ea"/>
                <a:cs typeface="+mn-cs"/>
              </a:rPr>
              <a:t> Lightweight, compact, capable of real-time depth sensing, and ideal for wearable applications.</a:t>
            </a:r>
            <a:br>
              <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8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fld>
            <a:endParaRPr lang="en-IN"/>
          </a:p>
        </p:txBody>
      </p:sp>
      <p:pic>
        <p:nvPicPr>
          <p:cNvPr id="16" name="Image 16"/>
          <p:cNvPicPr>
            <a:picLocks noChangeAspect="1"/>
          </p:cNvPicPr>
          <p:nvPr/>
        </p:nvPicPr>
        <p:blipFill>
          <a:blip r:embed="rId2" cstate="print"/>
          <a:stretch>
            <a:fillRect/>
          </a:stretch>
        </p:blipFill>
        <p:spPr>
          <a:xfrm>
            <a:off x="8196580" y="2040255"/>
            <a:ext cx="3860800" cy="3573145"/>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solidFill>
                  <a:srgbClr val="FF0000"/>
                </a:solidFill>
                <a:latin typeface="Verdana" panose="020B0804030504040204" pitchFamily="34" charset="0"/>
                <a:cs typeface="Verdana" panose="020B0804030504040204" pitchFamily="34" charset="0"/>
              </a:rPr>
              <a:t>EMBEDDED PROCESSING UNIT / SMARTPHONE </a:t>
            </a:r>
            <a:r>
              <a:rPr lang="en-US" altLang="en-IN" sz="3200" b="1" dirty="0">
                <a:solidFill>
                  <a:srgbClr val="FF0000"/>
                </a:solidFill>
                <a:sym typeface="+mn-ea"/>
              </a:rPr>
              <a:t>MODULE</a:t>
            </a:r>
            <a:endParaRPr lang="en-US" altLang="en-US" sz="3200"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a:xfrm>
            <a:off x="410845" y="1633855"/>
            <a:ext cx="8500745" cy="4267200"/>
          </a:xfrm>
        </p:spPr>
        <p:txBody>
          <a:bodyPr/>
          <a:p>
            <a:r>
              <a:rPr lang="en-US" altLang="en-US" sz="2400" b="1">
                <a:latin typeface="Verdana" panose="020B0804030504040204" pitchFamily="34" charset="0"/>
                <a:cs typeface="Verdana" panose="020B0804030504040204" pitchFamily="34" charset="0"/>
              </a:rPr>
              <a:t>Components:</a:t>
            </a:r>
            <a:r>
              <a:rPr lang="en-US" altLang="en-US" sz="2400"/>
              <a:t> Raspberry Pi 4 / Jetson Nano / Android smartphone</a:t>
            </a:r>
            <a:endParaRPr lang="en-US" altLang="en-US" sz="2400"/>
          </a:p>
          <a:p>
            <a:r>
              <a:rPr lang="en-US" altLang="en-US" sz="2400" b="1">
                <a:latin typeface="Verdana" panose="020B0804030504040204" pitchFamily="34" charset="0"/>
                <a:cs typeface="Verdana" panose="020B0804030504040204" pitchFamily="34" charset="0"/>
              </a:rPr>
              <a:t>Purpose:</a:t>
            </a:r>
            <a:r>
              <a:rPr lang="en-US" altLang="en-US" sz="2400"/>
              <a:t> Performs offline AI inference, running deep learning models (YOLOv5 / YOLOv3-tiny) for object detection, OCR, and depth estimation.</a:t>
            </a:r>
            <a:endParaRPr lang="en-US" altLang="en-US" sz="2400"/>
          </a:p>
          <a:p>
            <a:r>
              <a:rPr lang="en-US" altLang="en-US" sz="2400" b="1">
                <a:latin typeface="Verdana" panose="020B0804030504040204" pitchFamily="34" charset="0"/>
                <a:cs typeface="Verdana" panose="020B0804030504040204" pitchFamily="34" charset="0"/>
              </a:rPr>
              <a:t>Functionality:</a:t>
            </a:r>
            <a:r>
              <a:rPr lang="en-US" altLang="en-US" sz="2400"/>
              <a:t> Handles data flow from cameras and optional sensors, executes AI models efficiently, and sends processed instructions to audio output.</a:t>
            </a:r>
            <a:endParaRPr lang="en-US" altLang="en-US" sz="2400"/>
          </a:p>
          <a:p>
            <a:r>
              <a:rPr lang="en-US" altLang="en-US" sz="2400" b="1">
                <a:sym typeface="+mn-ea"/>
              </a:rPr>
              <a:t>Reason for Selection:</a:t>
            </a:r>
            <a:r>
              <a:rPr lang="en-US" altLang="en-US" sz="2400">
                <a:sym typeface="+mn-ea"/>
              </a:rPr>
              <a:t> Portable, supports offline AI, energy- efficient, and capable of real-time processing.</a:t>
            </a:r>
            <a:endParaRPr lang="en-US" altLang="en-US" sz="2400"/>
          </a:p>
          <a:p>
            <a:endParaRPr lang="en-US" altLang="en-US"/>
          </a:p>
          <a:p>
            <a:pPr marL="0" indent="0">
              <a:buNone/>
            </a:pPr>
            <a:endParaRPr lang="en-US" altLang="en-US"/>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pic>
        <p:nvPicPr>
          <p:cNvPr id="17" name="Image 17" descr="Raspberry Pi – Wikipedia"/>
          <p:cNvPicPr/>
          <p:nvPr/>
        </p:nvPicPr>
        <p:blipFill>
          <a:blip r:embed="rId1" cstate="print"/>
          <a:stretch>
            <a:fillRect/>
          </a:stretch>
        </p:blipFill>
        <p:spPr>
          <a:xfrm>
            <a:off x="8642350" y="2460625"/>
            <a:ext cx="3352800" cy="26136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solidFill>
                  <a:srgbClr val="FF0000"/>
                </a:solidFill>
                <a:latin typeface="Verdana" panose="020B0804030504040204" pitchFamily="34" charset="0"/>
                <a:cs typeface="Verdana" panose="020B0804030504040204" pitchFamily="34" charset="0"/>
              </a:rPr>
              <a:t>BONE CONDUCTION EARPHONE </a:t>
            </a:r>
            <a:r>
              <a:rPr lang="en-US" altLang="en-IN" sz="3200" b="1" dirty="0">
                <a:solidFill>
                  <a:srgbClr val="FF0000"/>
                </a:solidFill>
                <a:sym typeface="+mn-ea"/>
              </a:rPr>
              <a:t>MODULE</a:t>
            </a:r>
            <a:endParaRPr lang="en-US" altLang="en-US" sz="3200"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a:xfrm>
            <a:off x="755650" y="1752600"/>
            <a:ext cx="6717030" cy="4267200"/>
          </a:xfrm>
        </p:spPr>
        <p:txBody>
          <a:bodyPr/>
          <a:p>
            <a:r>
              <a:rPr lang="en-US" altLang="en-US" sz="2400" b="1">
                <a:latin typeface="Verdana" panose="020B0804030504040204" pitchFamily="34" charset="0"/>
                <a:cs typeface="Verdana" panose="020B0804030504040204" pitchFamily="34" charset="0"/>
              </a:rPr>
              <a:t>Components:</a:t>
            </a:r>
            <a:r>
              <a:rPr lang="en-US" altLang="en-US" sz="2400"/>
              <a:t> Aftershokz</a:t>
            </a:r>
            <a:endParaRPr lang="en-US" altLang="en-US" sz="2400"/>
          </a:p>
          <a:p>
            <a:r>
              <a:rPr lang="en-US" altLang="en-US" sz="2400" b="1">
                <a:latin typeface="Verdana" panose="020B0804030504040204" pitchFamily="34" charset="0"/>
                <a:cs typeface="Verdana" panose="020B0804030504040204" pitchFamily="34" charset="0"/>
              </a:rPr>
              <a:t>Purpose:</a:t>
            </a:r>
            <a:r>
              <a:rPr lang="en-US" altLang="en-US" sz="2400"/>
              <a:t> Provides hands-free audio instructions without blocking ambient environmental sounds.</a:t>
            </a:r>
            <a:endParaRPr lang="en-US" altLang="en-US" sz="2400"/>
          </a:p>
          <a:p>
            <a:r>
              <a:rPr lang="en-US" altLang="en-US" sz="2400" b="1">
                <a:latin typeface="Verdana" panose="020B0804030504040204" pitchFamily="34" charset="0"/>
                <a:cs typeface="Verdana" panose="020B0804030504040204" pitchFamily="34" charset="0"/>
              </a:rPr>
              <a:t>Functionality:</a:t>
            </a:r>
            <a:r>
              <a:rPr lang="en-US" altLang="en-US" sz="2400"/>
              <a:t> Receives TTS output from the processing unit and conveys guidance to the user in real-time.</a:t>
            </a:r>
            <a:endParaRPr lang="en-US" altLang="en-US" sz="2400"/>
          </a:p>
          <a:p>
            <a:r>
              <a:rPr lang="en-US" altLang="en-US" sz="2400" b="1">
                <a:latin typeface="Verdana" panose="020B0804030504040204" pitchFamily="34" charset="0"/>
                <a:cs typeface="Verdana" panose="020B0804030504040204" pitchFamily="34" charset="0"/>
              </a:rPr>
              <a:t>Reason for Selection:</a:t>
            </a:r>
            <a:r>
              <a:rPr lang="en-US" altLang="en-US" sz="2400"/>
              <a:t> Non-intrusive, suitable for elderly users, and allows simultaneous perception of environmental cues.</a:t>
            </a:r>
            <a:endParaRPr lang="en-US" altLang="en-US" sz="2400"/>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pic>
        <p:nvPicPr>
          <p:cNvPr id="18" name="Image 18" descr="Best bone conduction headphones in 2025 | Tom's Guide"/>
          <p:cNvPicPr>
            <a:picLocks noChangeAspect="1"/>
          </p:cNvPicPr>
          <p:nvPr/>
        </p:nvPicPr>
        <p:blipFill>
          <a:blip r:embed="rId1" cstate="print"/>
          <a:stretch>
            <a:fillRect/>
          </a:stretch>
        </p:blipFill>
        <p:spPr>
          <a:xfrm>
            <a:off x="7234555" y="1868805"/>
            <a:ext cx="4685030" cy="4027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solidFill>
                  <a:srgbClr val="FF0000"/>
                </a:solidFill>
                <a:latin typeface="Verdana" panose="020B0804030504040204" pitchFamily="34" charset="0"/>
                <a:cs typeface="Verdana" panose="020B0804030504040204" pitchFamily="34" charset="0"/>
              </a:rPr>
              <a:t>WEARABLE FRAME / 3D PRINTING DESIGN </a:t>
            </a:r>
            <a:r>
              <a:rPr lang="en-US" altLang="en-IN" sz="3200" b="1" dirty="0">
                <a:solidFill>
                  <a:srgbClr val="FF0000"/>
                </a:solidFill>
                <a:sym typeface="+mn-ea"/>
              </a:rPr>
              <a:t>MODULE</a:t>
            </a:r>
            <a:endParaRPr lang="en-US" altLang="en-US" sz="3200"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p:txBody>
          <a:bodyPr/>
          <a:p>
            <a:r>
              <a:rPr lang="en-US" altLang="en-US" sz="2400" b="1">
                <a:latin typeface="Verdana" panose="020B0804030504040204" pitchFamily="34" charset="0"/>
                <a:cs typeface="Verdana" panose="020B0804030504040204" pitchFamily="34" charset="0"/>
              </a:rPr>
              <a:t>Material:</a:t>
            </a:r>
            <a:r>
              <a:rPr lang="en-US" altLang="en-US" sz="2400"/>
              <a:t> PLA / ABS lightweight plastic</a:t>
            </a:r>
            <a:endParaRPr lang="en-US" altLang="en-US" sz="2400"/>
          </a:p>
          <a:p>
            <a:r>
              <a:rPr lang="en-US" altLang="en-US" sz="2400" b="1">
                <a:latin typeface="Verdana" panose="020B0804030504040204" pitchFamily="34" charset="0"/>
                <a:cs typeface="Verdana" panose="020B0804030504040204" pitchFamily="34" charset="0"/>
              </a:rPr>
              <a:t>Purpose:</a:t>
            </a:r>
            <a:r>
              <a:rPr lang="en-US" altLang="en-US" sz="2400"/>
              <a:t> Holds cameras and sensors ergonomically on the head, providing a stable and comfortable mounting platform.</a:t>
            </a:r>
            <a:endParaRPr lang="en-US" altLang="en-US" sz="2400"/>
          </a:p>
          <a:p>
            <a:r>
              <a:rPr lang="en-US" altLang="en-US" sz="2400" b="1">
                <a:latin typeface="Verdana" panose="020B0804030504040204" pitchFamily="34" charset="0"/>
                <a:cs typeface="Verdana" panose="020B0804030504040204" pitchFamily="34" charset="0"/>
              </a:rPr>
              <a:t>Functionality:</a:t>
            </a:r>
            <a:r>
              <a:rPr lang="en-US" altLang="en-US" sz="2400"/>
              <a:t> Adjustable frame design ensures optimal camera placement, user comfort, and the ability to accommodate future sensors or battery upgrades</a:t>
            </a:r>
            <a:r>
              <a:rPr lang="en-US" altLang="en-US"/>
              <a:t>.</a:t>
            </a:r>
            <a:endParaRPr lang="en-US" altLang="en-US"/>
          </a:p>
          <a:p>
            <a:r>
              <a:rPr lang="en-US" altLang="en-US" sz="2400" b="1">
                <a:latin typeface="Verdana" panose="020B0804030504040204" pitchFamily="34" charset="0"/>
                <a:cs typeface="Verdana" panose="020B0804030504040204" pitchFamily="34" charset="0"/>
                <a:sym typeface="+mn-ea"/>
              </a:rPr>
              <a:t>Reason for Selection:</a:t>
            </a:r>
            <a:r>
              <a:rPr lang="en-US" altLang="en-US" sz="2400">
                <a:sym typeface="+mn-ea"/>
              </a:rPr>
              <a:t> Lightweight, durable, customizable, and compatible with 3D printing techniques</a:t>
            </a:r>
            <a:endParaRPr lang="en-US" sz="2400"/>
          </a:p>
          <a:p>
            <a:endParaRPr lang="en-US" altLang="en-US"/>
          </a:p>
          <a:p>
            <a:pPr marL="0" indent="0">
              <a:buNone/>
            </a:pPr>
            <a:endParaRPr lang="en-US" altLang="en-US"/>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FF0000"/>
                </a:solidFill>
                <a:latin typeface="Verdana" panose="020B0804030504040204" pitchFamily="34" charset="0"/>
                <a:cs typeface="Verdana" panose="020B0804030504040204" pitchFamily="34" charset="0"/>
              </a:rPr>
              <a:t>POWER SUPPLY </a:t>
            </a:r>
            <a:r>
              <a:rPr lang="en-US" altLang="en-IN" b="1" dirty="0">
                <a:solidFill>
                  <a:srgbClr val="FF0000"/>
                </a:solidFill>
                <a:sym typeface="+mn-ea"/>
              </a:rPr>
              <a:t>MODULE</a:t>
            </a:r>
            <a:endParaRPr lang="en-US" altLang="en-US"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p:txBody>
          <a:bodyPr/>
          <a:p>
            <a:r>
              <a:rPr lang="en-US" altLang="en-US" sz="2400" b="1">
                <a:latin typeface="Verdana" panose="020B0804030504040204" pitchFamily="34" charset="0"/>
                <a:cs typeface="Verdana" panose="020B0804030504040204" pitchFamily="34" charset="0"/>
              </a:rPr>
              <a:t>Type:</a:t>
            </a:r>
            <a:r>
              <a:rPr lang="en-US" altLang="en-US" sz="2400"/>
              <a:t> Li-ion battery, 5000–10000 mAh</a:t>
            </a:r>
            <a:endParaRPr lang="en-US" altLang="en-US" sz="2400"/>
          </a:p>
          <a:p>
            <a:r>
              <a:rPr lang="en-US" altLang="en-US" sz="2400" b="1">
                <a:latin typeface="Verdana" panose="020B0804030504040204" pitchFamily="34" charset="0"/>
                <a:cs typeface="Verdana" panose="020B0804030504040204" pitchFamily="34" charset="0"/>
              </a:rPr>
              <a:t>Purpose:</a:t>
            </a:r>
            <a:r>
              <a:rPr lang="en-US" altLang="en-US" sz="2400"/>
              <a:t> Powers the stereo camera, embedded processor, and audio module for several hours of continuous operation.</a:t>
            </a:r>
            <a:endParaRPr lang="en-US" altLang="en-US" sz="2400"/>
          </a:p>
          <a:p>
            <a:r>
              <a:rPr lang="en-US" altLang="en-US" sz="2400" b="1">
                <a:latin typeface="Verdana" panose="020B0804030504040204" pitchFamily="34" charset="0"/>
                <a:cs typeface="Verdana" panose="020B0804030504040204" pitchFamily="34" charset="0"/>
              </a:rPr>
              <a:t>Functionality:</a:t>
            </a:r>
            <a:r>
              <a:rPr lang="en-US" altLang="en-US" sz="2400"/>
              <a:t> Provides stable and reliable energy, minimizing the need for frequent recharging.</a:t>
            </a:r>
            <a:endParaRPr lang="en-US" altLang="en-US" sz="2400"/>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pic>
        <p:nvPicPr>
          <p:cNvPr id="19" name="Image 19" descr="Rechargeable Li-ion Battery"/>
          <p:cNvPicPr>
            <a:picLocks noChangeAspect="1"/>
          </p:cNvPicPr>
          <p:nvPr/>
        </p:nvPicPr>
        <p:blipFill>
          <a:blip r:embed="rId1" cstate="print"/>
          <a:stretch>
            <a:fillRect/>
          </a:stretch>
        </p:blipFill>
        <p:spPr>
          <a:xfrm>
            <a:off x="3905250" y="3851910"/>
            <a:ext cx="4307205" cy="22675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FF0000"/>
                </a:solidFill>
                <a:latin typeface="Verdana" panose="020B0804030504040204" pitchFamily="34" charset="0"/>
                <a:cs typeface="Verdana" panose="020B0804030504040204" pitchFamily="34" charset="0"/>
              </a:rPr>
              <a:t>CONCLUSION</a:t>
            </a:r>
            <a:endParaRPr lang="en-US"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p:txBody>
          <a:bodyPr/>
          <a:p>
            <a:pPr marL="0" indent="0">
              <a:buNone/>
            </a:pPr>
            <a:r>
              <a:rPr lang="en-US" altLang="en-US" sz="2400"/>
              <a:t>Kanmani AI effectively addresses the limitations of traditional mobility aids by providing visually impaired elderly individuals with real-time, reliable indoor navigation support. By integrating stereo vision, offline AI processing, and bone conduction audio feedback into a compact wearable device, the system accurately detects obstacles, identifies stairs and doors, and reads text labels while maintaining user privacy and low latency. Testing in simulated environments confirmed its high accuracy and intuitive guidance, enabling safe movement with minimal training. With its low-cost hardware and efficient AI models, Kanmani AI offers a practical and accessible alternative to more complex systems, enhancing users’ confidence, safety, and independence in everyday indoor activities.</a:t>
            </a:r>
            <a:endParaRPr lang="en-US" altLang="en-US" sz="2400"/>
          </a:p>
        </p:txBody>
      </p:sp>
      <p:sp>
        <p:nvSpPr>
          <p:cNvPr id="4" name="Date Placeholder 3"/>
          <p:cNvSpPr>
            <a:spLocks noGrp="1"/>
          </p:cNvSpPr>
          <p:nvPr>
            <p:ph type="dt" sz="half" idx="10"/>
          </p:nvPr>
        </p:nvSpPr>
        <p:spPr/>
        <p:txBody>
          <a:bodyPr/>
          <a:p>
            <a:pPr>
              <a:defRPr/>
            </a:pPr>
            <a:r>
              <a:rPr lang="en-US"/>
              <a:t>Zeroth Review</a:t>
            </a:r>
            <a:endParaRPr lang="en-US"/>
          </a:p>
        </p:txBody>
      </p:sp>
      <p:sp>
        <p:nvSpPr>
          <p:cNvPr id="5" name="Footer Placeholder 4"/>
          <p:cNvSpPr>
            <a:spLocks noGrp="1"/>
          </p:cNvSpPr>
          <p:nvPr>
            <p:ph type="ftr" sz="quarter" idx="11"/>
          </p:nvPr>
        </p:nvSpPr>
        <p:spPr/>
        <p:txBody>
          <a:bodyPr/>
          <a:p>
            <a:pPr>
              <a:defRPr/>
            </a:pPr>
            <a:r>
              <a:rPr lang="en-US"/>
              <a:t>Department of Computer Science and Engineering</a:t>
            </a:r>
            <a:endParaRPr lang="en-US"/>
          </a:p>
        </p:txBody>
      </p:sp>
      <p:sp>
        <p:nvSpPr>
          <p:cNvPr id="6" name="Slide Number Placeholder 5"/>
          <p:cNvSpPr>
            <a:spLocks noGrp="1"/>
          </p:cNvSpPr>
          <p:nvPr>
            <p:ph type="sldNum" sz="quarter" idx="12"/>
          </p:nvPr>
        </p:nvSpPr>
        <p:spPr/>
        <p:txBody>
          <a:bodyPr/>
          <a:p>
            <a:pPr>
              <a:defRPr/>
            </a:pPr>
            <a:fld id="{BDC2143B-610F-499C-A392-DFFBE135A7B2}" type="slidenum">
              <a:rPr lang="en-US" altLang="en-US"/>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8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fld>
            <a:endParaRPr lang="en-US" altLang="en-US" dirty="0"/>
          </a:p>
        </p:txBody>
      </p:sp>
      <p:sp>
        <p:nvSpPr>
          <p:cNvPr id="5" name="Date Placeholder 4"/>
          <p:cNvSpPr>
            <a:spLocks noGrp="1"/>
          </p:cNvSpPr>
          <p:nvPr>
            <p:ph type="dt" sz="half" idx="10"/>
          </p:nvPr>
        </p:nvSpPr>
        <p:spPr/>
        <p:txBody>
          <a:bodyPr/>
          <a:lstStyle/>
          <a:p>
            <a:pPr>
              <a:defRPr/>
            </a:pPr>
            <a:r>
              <a:rPr lang="en-US" altLang="en-IN">
                <a:sym typeface="+mn-ea"/>
              </a:rPr>
              <a:t>End Sem</a:t>
            </a:r>
            <a:endParaRPr lang="en-US" altLang="en-IN"/>
          </a:p>
          <a:p>
            <a:pPr>
              <a:defRPr/>
            </a:pPr>
            <a:endParaRPr lang="en-US"/>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8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8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0</TotalTime>
  <Words>7940</Words>
  <Application>WPS Writer</Application>
  <PresentationFormat>Widescreen</PresentationFormat>
  <Paragraphs>177</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Verdana</vt:lpstr>
      <vt:lpstr>Times New Roman</vt:lpstr>
      <vt:lpstr>Verdana</vt:lpstr>
      <vt:lpstr>Microsoft YaHei</vt:lpstr>
      <vt:lpstr>汉仪旗黑</vt:lpstr>
      <vt:lpstr>Arial Unicode MS</vt:lpstr>
      <vt:lpstr>Calibri</vt:lpstr>
      <vt:lpstr>Helvetica Neue</vt:lpstr>
      <vt:lpstr>Times New Roman</vt:lpstr>
      <vt:lpstr>汉仪书宋二KW</vt:lpstr>
      <vt:lpstr>Profile</vt:lpstr>
      <vt:lpstr>PowerPoint 演示文稿</vt:lpstr>
      <vt:lpstr>Problem Statement and Motivation</vt:lpstr>
      <vt:lpstr>PowerPoint 演示文稿</vt:lpstr>
      <vt:lpstr>Existing System</vt:lpstr>
      <vt:lpstr>Objectives</vt:lpstr>
      <vt:lpstr>Abstract</vt:lpstr>
      <vt:lpstr>Architecture(framework)</vt:lpstr>
      <vt:lpstr>Module</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LIO GODWIN B R 221801029</cp:lastModifiedBy>
  <cp:revision>10</cp:revision>
  <dcterms:created xsi:type="dcterms:W3CDTF">2025-11-24T14:59:23Z</dcterms:created>
  <dcterms:modified xsi:type="dcterms:W3CDTF">2025-11-24T14:59:23Z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43AD35EFD1476283D86924691E510CC5_43</vt:lpwstr>
  </property>
</Properties>
</file>